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1F5F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Q1 '24</c:v>
                  </c:pt>
                  <c:pt idx="1">
                    <c:v>Q2 '24</c:v>
                  </c:pt>
                  <c:pt idx="2">
                    <c:v>Q3 '24</c:v>
                  </c:pt>
                  <c:pt idx="3">
                    <c:v>Q4 '24</c:v>
                  </c:pt>
                  <c:pt idx="4">
                    <c:v>Q1 '25</c:v>
                  </c:pt>
                  <c:pt idx="5">
                    <c:v>Q2 '25</c:v>
                  </c:pt>
                  <c:pt idx="6">
                    <c:v>Q3 '25</c:v>
                  </c:pt>
                  <c:pt idx="7">
                    <c:v>Q4 '25</c:v>
                  </c:pt>
                  <c:pt idx="8">
                    <c:v>2026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</c:v>
                </c:pt>
                <c:pt idx="1">
                  <c:v>0.4</c:v>
                </c:pt>
                <c:pt idx="2">
                  <c:v>0.9</c:v>
                </c:pt>
                <c:pt idx="3">
                  <c:v>2.1</c:v>
                </c:pt>
                <c:pt idx="4">
                  <c:v>4.2</c:v>
                </c:pt>
                <c:pt idx="5">
                  <c:v>7.5</c:v>
                </c:pt>
                <c:pt idx="6">
                  <c:v>11.1</c:v>
                </c:pt>
                <c:pt idx="7">
                  <c:v>15.8</c:v>
                </c:pt>
                <c:pt idx="8">
                  <c:v>37.4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1F5F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126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1188720" y="36576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155448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74320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393192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512064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36576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155448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274320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393192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512064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36576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155448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17520" y="274320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0" y="393192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512064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0" y="36576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31920" y="155448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0" y="274320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31920" y="393192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0" y="512064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36576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155448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74320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393192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512064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0720" y="36576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155448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0" y="274320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0720" y="393192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60720" y="512064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75120" y="36576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75120" y="155448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0" y="274320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75120" y="393192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75120" y="512064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89520" y="36576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89520" y="155448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89520" y="274320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89520" y="393192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589520" y="512064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03920" y="36576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03920" y="155448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03920" y="274320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503920" y="393192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503920" y="5120640"/>
            <a:ext cx="45720" cy="45720"/>
          </a:xfrm>
          <a:prstGeom prst="oval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731520"/>
            <a:ext cx="5029200" cy="3657600"/>
          </a:xfrm>
          <a:prstGeom prst="rect">
            <a:avLst/>
          </a:prstGeom>
          <a:solidFill>
            <a:srgbClr val="2D1B69">
              <a:alpha val="25000"/>
            </a:srgbClr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" y="914400"/>
            <a:ext cx="1837944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941832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SEED ROUND  ·  2024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40080" y="12801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Forge AI</a:t>
            </a:r>
            <a:endParaRPr lang="en-US" sz="7200" dirty="0"/>
          </a:p>
        </p:txBody>
      </p:sp>
      <p:sp>
        <p:nvSpPr>
          <p:cNvPr id="52" name="Shape 50"/>
          <p:cNvSpPr/>
          <p:nvPr/>
        </p:nvSpPr>
        <p:spPr>
          <a:xfrm>
            <a:off x="640080" y="2423160"/>
            <a:ext cx="29260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" y="2560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Build. Ship. Scale. With AI.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640080" y="31546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AI-powered platform that turns any idea into a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full-stack web application.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4008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</a:rPr>
              <a:t>$5M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640080" y="4526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Seed Ask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28600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</a:rPr>
              <a:t>35%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2286000" y="4526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Market CAGR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931920" y="4114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</a:rPr>
              <a:t>$180B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3931920" y="4526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SAM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760720" y="411480"/>
            <a:ext cx="3200400" cy="4297680"/>
          </a:xfrm>
          <a:prstGeom prst="rect">
            <a:avLst/>
          </a:prstGeom>
          <a:solidFill>
            <a:srgbClr val="161B22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254000" dist="50800" dir="8100000">
              <a:srgbClr val="7C3AED">
                <a:alpha val="3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760720" y="411480"/>
            <a:ext cx="3200400" cy="320040"/>
          </a:xfrm>
          <a:prstGeom prst="rect">
            <a:avLst/>
          </a:prstGeom>
          <a:solidFill>
            <a:srgbClr val="1C212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897880" y="502920"/>
            <a:ext cx="109728" cy="109728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053328" y="502920"/>
            <a:ext cx="109728" cy="109728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08776" y="502920"/>
            <a:ext cx="109728" cy="109728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00800" y="484632"/>
            <a:ext cx="2194560" cy="16459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852160" y="8686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forge new my-saas-app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852160" y="12070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Analyzing prompt...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5852160" y="15453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Generating React components...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5852160" y="188366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Setting up Supabase backend...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5852160" y="222199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A5E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Configuring authentication...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5852160" y="2560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Building production bundle...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5852160" y="28986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Deploying to Vercel...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760720" y="323697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5852160" y="35753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🚀 Live at: my-saas.vercel.app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5852160" y="391363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⏱  Total time: 47 seconds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Confidential — For Discussion Purposes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Building software is broken. The gap between idea and product has never been larger.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1605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41605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$150–$300/hr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801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Developer Costs Are Prohibitive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Hiring engineers to build an MVP costs $50K–$200K. Most founders can't afford 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41605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325880"/>
            <a:ext cx="4160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32120" y="14630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6–18 Months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32120" y="1801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Time-to-Market Is Too Slow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148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By the time a dev team ships v1, competitors have already captured the market.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108960"/>
            <a:ext cx="41605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108960"/>
            <a:ext cx="41605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🚧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9728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</a:rPr>
              <a:t>71% of Ideas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97280" y="3584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Never Get Built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931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Non-technical founders can't execute their vision. No-code tools hit a ceiling fast.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108960"/>
            <a:ext cx="4160520" cy="16002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108960"/>
            <a:ext cx="416052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3212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</a:rPr>
              <a:t>90% Churn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32120" y="3584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No-Code Hits a Wall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931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Existing tools (Bubble, Webflow) lack the flexibility to build real production apps.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1673352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3210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FORGE AI PLATFORM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4A3B8"/>
                </a:solidFill>
              </a:rPr>
              <a:t>Describe your app. Forge AI builds it complete,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4A3B8"/>
                </a:solidFill>
              </a:rPr>
              <a:t>deployed, and live in production.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371600" cy="384048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9751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🤖 AI Code Generation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65960" y="1920240"/>
            <a:ext cx="1371600" cy="384048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39112" y="19751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⚡ Live Preview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0" y="1920240"/>
            <a:ext cx="1371600" cy="384048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197510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🚀 1-Click Deploy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1371600" cy="384048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4780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🔗 GitHub Sync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965960" y="2423160"/>
            <a:ext cx="1371600" cy="384048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39112" y="24780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🗄️ Supabase Backend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0" y="2423160"/>
            <a:ext cx="1371600" cy="384048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7872" y="24780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👥 Team Collab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4389120" cy="1005840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063240"/>
            <a:ext cx="54864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A78BFA"/>
                </a:solidFill>
              </a:rPr>
              <a:t>"I described my SaaS idea on Monday.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A78BFA"/>
                </a:solidFill>
              </a:rPr>
              <a:t>Forge deployed it to production by Tuesday.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A78BFA"/>
                </a:solidFill>
              </a:rPr>
              <a:t>This is magic."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0050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— Beta User, Indie Hacker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12080" y="320040"/>
            <a:ext cx="3749040" cy="4572000"/>
          </a:xfrm>
          <a:prstGeom prst="rect">
            <a:avLst/>
          </a:prstGeom>
          <a:solidFill>
            <a:srgbClr val="161B22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254000" dist="50800" dir="8100000">
              <a:srgbClr val="7C3AED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12080" y="320040"/>
            <a:ext cx="3749040" cy="347472"/>
          </a:xfrm>
          <a:prstGeom prst="rect">
            <a:avLst/>
          </a:prstGeom>
          <a:solidFill>
            <a:srgbClr val="1C212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49240" y="448056"/>
            <a:ext cx="109728" cy="109728"/>
          </a:xfrm>
          <a:prstGeom prst="oval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13832" y="448056"/>
            <a:ext cx="109728" cy="109728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78424" y="448056"/>
            <a:ext cx="109728" cy="109728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15000" y="420624"/>
            <a:ext cx="256032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12080" y="667512"/>
            <a:ext cx="1371600" cy="4224528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7498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A5E9"/>
                </a:solidFill>
              </a:rPr>
              <a:t>📁 my-saas-app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285232" y="1024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app/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285232" y="13350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layout.tsx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285232" y="16459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page.tsx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285232" y="19568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components/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285232" y="22677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Header.tsx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285232" y="2578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Dashboard.tsx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285232" y="28895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Sidebar.tsx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285232" y="3200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lib/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285232" y="35112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supabase.ts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285232" y="38221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auth.ts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583680" y="667512"/>
            <a:ext cx="2377440" cy="4224528"/>
          </a:xfrm>
          <a:prstGeom prst="rect">
            <a:avLst/>
          </a:prstGeom>
          <a:solidFill>
            <a:srgbClr val="0D1117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7132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AI Chat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583680" y="914400"/>
            <a:ext cx="2377440" cy="9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4" name="Shape 42"/>
          <p:cNvSpPr/>
          <p:nvPr/>
        </p:nvSpPr>
        <p:spPr>
          <a:xfrm>
            <a:off x="7315200" y="1005840"/>
            <a:ext cx="1554480" cy="594360"/>
          </a:xfrm>
          <a:prstGeom prst="rect">
            <a:avLst/>
          </a:prstGeom>
          <a:solidFill>
            <a:srgbClr val="2D1B69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06640" y="10241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EA5E9"/>
                </a:solidFill>
              </a:rPr>
              <a:t>You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360920" y="11887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1F5F9"/>
                </a:solidFill>
              </a:rPr>
              <a:t>Add a dark mode toggle to the header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656832" y="1755648"/>
            <a:ext cx="1554480" cy="594360"/>
          </a:xfrm>
          <a:prstGeom prst="rect">
            <a:avLst/>
          </a:prstGeom>
          <a:solidFill>
            <a:srgbClr val="1C212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48272" y="17739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78BFA"/>
                </a:solidFill>
              </a:rPr>
              <a:t>Forge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702552" y="193852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1F5F9"/>
                </a:solidFill>
              </a:rPr>
              <a:t>Done! Added a theme toggle with Tailwind dark: classes and localStorage persistence.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315200" y="2505456"/>
            <a:ext cx="1554480" cy="594360"/>
          </a:xfrm>
          <a:prstGeom prst="rect">
            <a:avLst/>
          </a:prstGeom>
          <a:solidFill>
            <a:srgbClr val="2D1B69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06640" y="252374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EA5E9"/>
                </a:solidFill>
              </a:rPr>
              <a:t>You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7360920" y="2688336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1F5F9"/>
                </a:solidFill>
              </a:rPr>
              <a:t>Add user authentication with Google OAuth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656832" y="3255264"/>
            <a:ext cx="1554480" cy="594360"/>
          </a:xfrm>
          <a:prstGeom prst="rect">
            <a:avLst/>
          </a:prstGeom>
          <a:solidFill>
            <a:srgbClr val="1C2128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48272" y="32735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78BFA"/>
                </a:solidFill>
              </a:rPr>
              <a:t>Forge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702552" y="3438144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1F5F9"/>
                </a:solidFill>
              </a:rPr>
              <a:t>Integrating Supabase Auth with Google provider and updating RLS policies...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629400" y="4480560"/>
            <a:ext cx="2286000" cy="320040"/>
          </a:xfrm>
          <a:prstGeom prst="rect">
            <a:avLst/>
          </a:prstGeom>
          <a:solidFill>
            <a:srgbClr val="21262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20840" y="45354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Describe your next change...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From idea to deployed app in under 60 seconds — no code required.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01168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844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737360" y="13258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17373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28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Describe Your App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2128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Type (or speak) what you want to build in plain English. Include features, styling, integrations — anything.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3154680"/>
            <a:ext cx="1792224" cy="1371600"/>
          </a:xfrm>
          <a:prstGeom prst="rect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2461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334155"/>
                </a:solidFill>
              </a:rPr>
              <a:t>"Build me a SaaS dashboard with user auth, Stripe billing, and a data table showing subscription analytics"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31720" y="2651760"/>
            <a:ext cx="22860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5" name="Text 13"/>
          <p:cNvSpPr/>
          <p:nvPr/>
        </p:nvSpPr>
        <p:spPr>
          <a:xfrm>
            <a:off x="2496312" y="254203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68880" y="1188720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0" y="1188720"/>
            <a:ext cx="201168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2606040" y="129844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886200" y="13258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606040" y="1764792"/>
            <a:ext cx="17373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2606040" y="1828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Builds It Live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606040" y="22128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Forge AI generates your full-stack app in real-time. Watch files appear, code compile, and your app boot in the browser.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78608" y="3154680"/>
            <a:ext cx="1792224" cy="1371600"/>
          </a:xfrm>
          <a:prstGeom prst="rect">
            <a:avLst/>
          </a:prstGeom>
          <a:solidFill>
            <a:srgbClr val="0EA5E9">
              <a:alpha val="9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32461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334155"/>
                </a:solidFill>
              </a:rPr>
              <a:t>React + TypeScript + TailwindCSS + Supabase + Stripe — all wired up and working.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480560" y="2651760"/>
            <a:ext cx="22860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6" name="Text 24"/>
          <p:cNvSpPr/>
          <p:nvPr/>
        </p:nvSpPr>
        <p:spPr>
          <a:xfrm>
            <a:off x="4645152" y="254203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17720" y="1188720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17720" y="1188720"/>
            <a:ext cx="201168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129844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035040" y="13258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4754880" y="1764792"/>
            <a:ext cx="17373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1828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Iterate with Chat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754880" y="22128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Refine your app conversationally. "Add dark mode", "Fix the mobile layout", "Add a chart to the dashboard".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27448" y="3154680"/>
            <a:ext cx="1792224" cy="1371600"/>
          </a:xfrm>
          <a:prstGeom prst="rect">
            <a:avLst/>
          </a:prstGeom>
          <a:solidFill>
            <a:srgbClr val="F59E0B">
              <a:alpha val="9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2461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334155"/>
                </a:solidFill>
              </a:rPr>
              <a:t>Every change is instant. No rebuilds, no deployment friction, no waiting.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629400" y="2651760"/>
            <a:ext cx="22860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6793992" y="254203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766560" y="1188720"/>
            <a:ext cx="201168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766560" y="1188720"/>
            <a:ext cx="201168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6903720" y="129844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8183880" y="13258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6903720" y="1764792"/>
            <a:ext cx="17373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1"/>
          <p:cNvSpPr/>
          <p:nvPr/>
        </p:nvSpPr>
        <p:spPr>
          <a:xfrm>
            <a:off x="6903720" y="18288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Ship to Production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903720" y="22128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</a:rPr>
              <a:t>One click deploys to Vercel, Netlify, or Cloudflare. GitHub sync included. Custom domain in minutes.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876288" y="3154680"/>
            <a:ext cx="1792224" cy="1371600"/>
          </a:xfrm>
          <a:prstGeom prst="rect">
            <a:avLst/>
          </a:prstGeom>
          <a:solidFill>
            <a:srgbClr val="10B981">
              <a:alpha val="9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49440" y="32461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334155"/>
                </a:solidFill>
              </a:rPr>
              <a:t>Your app is live, indexed, SSL-secured, and scalable from day one.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We are entering a market at the intersection of three massive, converging trends.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" y="1188720"/>
            <a:ext cx="4754880" cy="804672"/>
          </a:xfrm>
          <a:prstGeom prst="rect">
            <a:avLst/>
          </a:prstGeom>
          <a:solidFill>
            <a:srgbClr val="1C2128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" y="1188720"/>
            <a:ext cx="64008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126187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TAM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2435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$650B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6032" y="1682496"/>
            <a:ext cx="4498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Global Software Development Market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3474720" cy="804672"/>
          </a:xfrm>
          <a:prstGeom prst="rect">
            <a:avLst/>
          </a:prstGeom>
          <a:solidFill>
            <a:srgbClr val="21262D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240280"/>
            <a:ext cx="64008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31343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SAM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22951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$180B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96112" y="2734056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Web Application Development Segment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554480" y="3291840"/>
            <a:ext cx="1828800" cy="804672"/>
          </a:xfrm>
          <a:prstGeom prst="rect">
            <a:avLst/>
          </a:prstGeom>
          <a:solidFill>
            <a:srgbClr val="2D1B69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54480" y="3291840"/>
            <a:ext cx="64008" cy="8046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1719072" y="336499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SOM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31720" y="33467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$3B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19072" y="3785616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AI Coding Tools  ·  35% CAGR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4407408"/>
            <a:ext cx="461772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480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🚀  AI coding tools market growing at 35% CAGR — reaching $12B by 2027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10515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Why Now?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486400" y="1481328"/>
            <a:ext cx="347472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0" y="1481328"/>
            <a:ext cx="54864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0" y="152704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94M+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669280" y="18836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Developers worldwide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0" y="2377440"/>
            <a:ext cx="347472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0" y="2377440"/>
            <a:ext cx="54864" cy="7498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0" y="2423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350M+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669280" y="27797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Non-technical entrepreneurs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0" y="3273552"/>
            <a:ext cx="347472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0" y="3273552"/>
            <a:ext cx="54864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0" y="33192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72%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5669280" y="36758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Startups need web apps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0" y="4169664"/>
            <a:ext cx="347472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86400" y="4169664"/>
            <a:ext cx="54864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0" y="421538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35%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5669280" y="4572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YoY market growth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0" y="5047488"/>
            <a:ext cx="3474720" cy="9144"/>
          </a:xfrm>
          <a:prstGeom prst="rect">
            <a:avLst/>
          </a:prstGeom>
          <a:solidFill>
            <a:srgbClr val="21262D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Everything developers need — and nothing they don't.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4864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0972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AI Code Generation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1408176"/>
            <a:ext cx="548640" cy="20116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144475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</a:rPr>
              <a:t>Core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38912" y="16642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Claude 3.5 Sonnet generates full-stack React/Next.js apps. Context-aware, diff-based updates — not full rewrites.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82112" y="100584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1005840"/>
            <a:ext cx="54864" cy="10972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364992" y="109728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22192" y="10972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Instant Live Preview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22192" y="1408176"/>
            <a:ext cx="548640" cy="201168"/>
          </a:xfrm>
          <a:prstGeom prst="rect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67912" y="144475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</a:rPr>
              <a:t>Core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346704" y="16642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WebContainers run your app entirely in the browser. Zero server cold starts. Hot reload in &lt;500ms.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89904" y="100584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9904" y="100584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272784" y="109728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29984" y="10972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Iterative AI Chat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29984" y="1408176"/>
            <a:ext cx="548640" cy="20116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75704" y="144475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Core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254496" y="16642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Refine your app through conversation. The AI understands your entire codebase and builds on previous context.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2402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24028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23317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14400" y="23317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1-Click Deploy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4400" y="2642616"/>
            <a:ext cx="731520" cy="201168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267919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Deploy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38912" y="28986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Push to Vercel, Netlify, or Cloudflare Pages instantly. Custom domains, SSL, and CDN included automatically.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182112" y="22402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82112" y="2240280"/>
            <a:ext cx="54864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3364992" y="23317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3822192" y="23317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GitHub Sync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822192" y="2642616"/>
            <a:ext cx="640080" cy="20116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67912" y="267919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</a:rPr>
              <a:t>DevEx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3346704" y="28986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Two-way GitHub integration. Push, pull, branch, and PR — your Forge app IS a real Git repository.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089904" y="224028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89904" y="2240280"/>
            <a:ext cx="54864" cy="10972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2" name="Text 40"/>
          <p:cNvSpPr/>
          <p:nvPr/>
        </p:nvSpPr>
        <p:spPr>
          <a:xfrm>
            <a:off x="6272784" y="23317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729984" y="23317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Supabase Backend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729984" y="2642616"/>
            <a:ext cx="822960" cy="201168"/>
          </a:xfrm>
          <a:prstGeom prst="rect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75704" y="267919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EA5E9"/>
                </a:solidFill>
              </a:rPr>
              <a:t>Backend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254496" y="28986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One-click database, auth, and storage. AI generates schema, RLS policies, and typed API clients automatically.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4320" y="347472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74320" y="347472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356616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914400" y="35661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Team Collaboration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14400" y="3877056"/>
            <a:ext cx="548640" cy="201168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0120" y="3913632"/>
            <a:ext cx="457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Team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38912" y="41330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Real-time multi-cursor editing, comments, activity feed, and role-based permissions for your whole team.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182112" y="347472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182112" y="347472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6" name="Text 54"/>
          <p:cNvSpPr/>
          <p:nvPr/>
        </p:nvSpPr>
        <p:spPr>
          <a:xfrm>
            <a:off x="3364992" y="356616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3822192" y="35661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Template Marketplace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822192" y="3877056"/>
            <a:ext cx="731520" cy="201168"/>
          </a:xfrm>
          <a:prstGeom prst="rect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67912" y="391363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Growth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3346704" y="41330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100+ production-quality starters: SaaS, e-commerce, dashboard, blog, landing page — all customizable by AI.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089904" y="347472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089904" y="3474720"/>
            <a:ext cx="54864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3" name="Text 61"/>
          <p:cNvSpPr/>
          <p:nvPr/>
        </p:nvSpPr>
        <p:spPr>
          <a:xfrm>
            <a:off x="6272784" y="356616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6729984" y="35661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Analytics &amp; Monitoring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6729984" y="3877056"/>
            <a:ext cx="457200" cy="201168"/>
          </a:xfrm>
          <a:prstGeom prst="rect">
            <a:avLst/>
          </a:prstGeom>
          <a:solidFill>
            <a:srgbClr val="EF4444">
              <a:alpha val="12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75704" y="391363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F4444"/>
                </a:solidFill>
              </a:rPr>
              <a:t>Pro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6254496" y="41330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34155"/>
                </a:solidFill>
              </a:rPr>
              <a:t>Built-in error tracking, performance monitoring, and usage analytics. Know what's broken before users do.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SaaS subscription + usage-based pricing. Simple, predictable, scalable.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64592" y="1143000"/>
            <a:ext cx="1664208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1752" y="12984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4748B"/>
                </a:solidFill>
              </a:rPr>
              <a:t>Free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56032" y="16276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56032" y="21214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Forever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2414016"/>
            <a:ext cx="1481328" cy="9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4871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10 AI messages/day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281635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81635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3 projects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314553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314553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Community deploy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34747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WebContainer preview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380390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80390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Basic templates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929384" y="1143000"/>
            <a:ext cx="1664208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066544" y="12984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</a:rPr>
              <a:t>Starter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020824" y="16276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$19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020824" y="21214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/month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20824" y="2414016"/>
            <a:ext cx="1481328" cy="9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5" name="Text 23"/>
          <p:cNvSpPr/>
          <p:nvPr/>
        </p:nvSpPr>
        <p:spPr>
          <a:xfrm>
            <a:off x="2039112" y="24871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21992" y="248716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200 AI messages/mo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039112" y="281635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221992" y="281635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10 projects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39112" y="314553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21992" y="314553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Custom domains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39112" y="34747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✓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21992" y="347472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GitHub sync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039112" y="380390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21992" y="380390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All templates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039112" y="413308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221992" y="413308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Priority support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94176" y="1143000"/>
            <a:ext cx="1664208" cy="3749040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694176" y="1143000"/>
            <a:ext cx="1664208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3803904" y="11887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MOST POPULAR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831336" y="14813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Pro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3785616" y="1783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$49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3785616" y="22677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/month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785616" y="2560320"/>
            <a:ext cx="1481328" cy="9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4" name="Text 42"/>
          <p:cNvSpPr/>
          <p:nvPr/>
        </p:nvSpPr>
        <p:spPr>
          <a:xfrm>
            <a:off x="3803904" y="26334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✓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986784" y="263347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Unlimited AI messages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803904" y="296265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✓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986784" y="296265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Unlimited projects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803904" y="32918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✓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986784" y="329184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Team collab (3 seats)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803904" y="362102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✓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986784" y="362102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Advanced AI models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803904" y="39502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✓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986784" y="395020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Deploy anywhere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803904" y="42793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✓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986784" y="427939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Analytics dashboard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458968" y="1143000"/>
            <a:ext cx="1664208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596128" y="12984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Team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5550408" y="16276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$149</a:t>
            </a:r>
            <a:endParaRPr lang="en-US" sz="2400" dirty="0"/>
          </a:p>
        </p:txBody>
      </p:sp>
      <p:sp>
        <p:nvSpPr>
          <p:cNvPr id="59" name="Text 57"/>
          <p:cNvSpPr/>
          <p:nvPr/>
        </p:nvSpPr>
        <p:spPr>
          <a:xfrm>
            <a:off x="5550408" y="21214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/month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550408" y="2414016"/>
            <a:ext cx="1481328" cy="9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61" name="Text 59"/>
          <p:cNvSpPr/>
          <p:nvPr/>
        </p:nvSpPr>
        <p:spPr>
          <a:xfrm>
            <a:off x="5568696" y="24871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✓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751576" y="248716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Everything in Pro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568696" y="281635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✓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751576" y="281635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5 team seats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568696" y="314553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✓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751576" y="314553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SSO / SAML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568696" y="34747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✓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751576" y="347472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Audit logs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568696" y="380390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✓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751576" y="380390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Dedicated support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568696" y="413308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✓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751576" y="413308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SLA guarantee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223760" y="1143000"/>
            <a:ext cx="1664208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7360920" y="12984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Enterprise</a:t>
            </a:r>
            <a:endParaRPr lang="en-US" sz="1500" dirty="0"/>
          </a:p>
        </p:txBody>
      </p:sp>
      <p:sp>
        <p:nvSpPr>
          <p:cNvPr id="75" name="Text 73"/>
          <p:cNvSpPr/>
          <p:nvPr/>
        </p:nvSpPr>
        <p:spPr>
          <a:xfrm>
            <a:off x="7315200" y="16276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</a:t>
            </a:r>
            <a:endParaRPr lang="en-US" sz="2400" dirty="0"/>
          </a:p>
        </p:txBody>
      </p:sp>
      <p:sp>
        <p:nvSpPr>
          <p:cNvPr id="76" name="Text 74"/>
          <p:cNvSpPr/>
          <p:nvPr/>
        </p:nvSpPr>
        <p:spPr>
          <a:xfrm>
            <a:off x="7315200" y="212140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pricing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315200" y="2414016"/>
            <a:ext cx="1481328" cy="9144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78" name="Text 76"/>
          <p:cNvSpPr/>
          <p:nvPr/>
        </p:nvSpPr>
        <p:spPr>
          <a:xfrm>
            <a:off x="7333488" y="24871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✓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7516368" y="248716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Unlimited seats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7333488" y="281635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✓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7516368" y="2816352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On-premise option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7333488" y="314553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✓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7516368" y="314553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Custom AI models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333488" y="34747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✓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7516368" y="347472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White-label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7333488" y="380390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✓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7516368" y="380390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API access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7333488" y="413308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</a:rPr>
              <a:t>✓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7516368" y="413308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</a:rPr>
              <a:t>24/7 support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457200" y="48280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Unit Economics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457200" y="50109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Blended ARPU: $42/mo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1874520" y="50109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CAC (PLG): $45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3291840" y="50109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LTV: $504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4709160" y="50109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LTV:CAC: 11:1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6126480" y="50109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Gross Margin: 72%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7543800" y="50109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Payback: 4 mo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Landscape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We compete on breadth, quality, and speed — and we win on all three.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2344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Company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08760" y="1143000"/>
            <a:ext cx="11887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188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Quality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1143000"/>
            <a:ext cx="11887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1188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Preview Speed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86200" y="1143000"/>
            <a:ext cx="10058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1188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Deploy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92040" y="1143000"/>
            <a:ext cx="11887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188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Collaboration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143000"/>
            <a:ext cx="10058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188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Backend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86600" y="1143000"/>
            <a:ext cx="10972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1188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1490472"/>
            <a:ext cx="8595360" cy="475488"/>
          </a:xfrm>
          <a:prstGeom prst="rect">
            <a:avLst/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1490472"/>
            <a:ext cx="45720" cy="4754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16002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Forge AI ⚡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54480" y="1600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★★★★★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0" y="1600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★★★★★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31920" y="1600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★★★★★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1600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★★★★★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1600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★★★★★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132320" y="16002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</a:rPr>
              <a:t>★★★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1965960"/>
            <a:ext cx="85953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0756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Lovable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554480" y="20756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★★★★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0" y="20756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★★★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31920" y="2075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★★★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20756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★★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2075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★★★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32320" y="20756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★★★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2441448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255117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Bolt.new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554480" y="25511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★★★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0" y="25511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★★★★★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931920" y="25511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★★★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37760" y="25511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★★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26480" y="25511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★★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32320" y="25511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★★★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2916936"/>
            <a:ext cx="85953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302666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v0 (Vercel)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554480" y="30266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★★★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743200" y="30266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★★★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931920" y="3026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★★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37760" y="302666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★★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126480" y="3026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132320" y="30266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★★★★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3392424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35021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Replit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554480" y="35021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★★★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743200" y="35021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★★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3931920" y="35021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★★★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937760" y="35021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★★★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126480" y="35021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★★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132320" y="35021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★★★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74320" y="3867912"/>
            <a:ext cx="859536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" y="39776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Cursor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554480" y="3977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★★★★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743200" y="3977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N/A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931920" y="39776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N/A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937760" y="39776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126480" y="39776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132320" y="3977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★★★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457200" y="46634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🏆  Our Moat: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463040" y="4663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✓ Proprietary context engine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2971800" y="4663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✓ AI error recovery loop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480560" y="4663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✓ Fine-tuned on 10K+ apps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989320" y="4663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✓ Fastest preview (WebContainers)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498080" y="4663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✓ Best backend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&amp; Moat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Built on best-in-class infrastructure with proprietary AI systems that compound over time.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18872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08760" y="1188720"/>
            <a:ext cx="38404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9164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Anthropic Claude 3.5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1188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OpenAI GPT-4o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691640" y="1673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Proprietary Fine-tune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11880" y="1673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Context Manager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103120"/>
            <a:ext cx="1188720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488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Execution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508760" y="2103120"/>
            <a:ext cx="38404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9164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WebContainers API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1188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Docker Sandboxes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91640" y="2587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Hot Reload Engine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11880" y="2587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Error Recovery AI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017520"/>
            <a:ext cx="118872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0632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508760" y="3017520"/>
            <a:ext cx="38404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69164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Node.js + Fastify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1188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PostgreSQL + Redis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91640" y="3502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S3 Storage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11880" y="3502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Supabase Integration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931920"/>
            <a:ext cx="118872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776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Infrastructure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508760" y="3931920"/>
            <a:ext cx="3840480" cy="777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69164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AWS + Cloudflare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11880" y="4069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GitHub Actions CI/CD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91640" y="4416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Datadog + Sentry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11880" y="4416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99.9% SLA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0" y="1143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Technical Moat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669280" y="1572768"/>
            <a:ext cx="329184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806440" y="1627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236208" y="16276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Proprietary Context Engine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36208" y="18745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AI understands full project state across 100+ files. Diff-based updates — not full rewrites.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669280" y="2414016"/>
            <a:ext cx="329184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8064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236208" y="24688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AI Error Recovery Loop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36208" y="27157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Autonomous generate → run → error → fix cycles. Produces working code, not broken drafts.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669280" y="3255264"/>
            <a:ext cx="329184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80644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236208" y="33101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Fine-tuned Models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36208" y="355701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Trained on 10,000+ production app codebases. Better React, better TypeScript, better architecture.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669280" y="4096512"/>
            <a:ext cx="3291840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80644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6236208" y="415137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Data Flywheel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36208" y="43982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</a:rPr>
              <a:t>Every app built improves our models. Network effects create a compounding quality advantage.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Go-to-Market Strategy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Product-Led Growth as the engine, community as the multiplier.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7432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207008"/>
            <a:ext cx="850392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Launch (M1–3)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1901952"/>
            <a:ext cx="24688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933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→  Product Hunt #1 launch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4048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→  HackerNews Show HN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163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→  Twitter/X viral demo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2278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→  YC Startup School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749040"/>
            <a:ext cx="2560320" cy="548640"/>
          </a:xfrm>
          <a:prstGeom prst="rect">
            <a:avLst/>
          </a:prstGeom>
          <a:solidFill>
            <a:srgbClr val="7C3AED">
              <a:alpha val="9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587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🎯 1,000 beta users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82112" y="1097280"/>
            <a:ext cx="2743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82112" y="1097280"/>
            <a:ext cx="2743200" cy="640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Shape 17"/>
          <p:cNvSpPr/>
          <p:nvPr/>
        </p:nvSpPr>
        <p:spPr>
          <a:xfrm>
            <a:off x="3319272" y="1207008"/>
            <a:ext cx="850392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123444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19272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Growth (M4–6)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19272" y="1901952"/>
            <a:ext cx="24688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/>
          <p:nvPr/>
        </p:nvSpPr>
        <p:spPr>
          <a:xfrm>
            <a:off x="3364992" y="19933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→  Creator dev partnerships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64992" y="24048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→  YouTube tutorial SEO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64992" y="28163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→  Discord community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64992" y="32278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→  Supabase / Vercel co-marketing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73552" y="3749040"/>
            <a:ext cx="2560320" cy="548640"/>
          </a:xfrm>
          <a:prstGeom prst="rect">
            <a:avLst/>
          </a:prstGeom>
          <a:solidFill>
            <a:srgbClr val="0EA5E9">
              <a:alpha val="9000"/>
            </a:srgbClr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38587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</a:rPr>
              <a:t>🎯 5,000 paid users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089904" y="1097280"/>
            <a:ext cx="274320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9904" y="1097280"/>
            <a:ext cx="274320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Shape 29"/>
          <p:cNvSpPr/>
          <p:nvPr/>
        </p:nvSpPr>
        <p:spPr>
          <a:xfrm>
            <a:off x="6227064" y="1207008"/>
            <a:ext cx="850392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72784" y="123444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27064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Scale (M7–12)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27064" y="1901952"/>
            <a:ext cx="24688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6272784" y="199339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→  Google Ads (CAC &lt;$150)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72784" y="240487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→  Template marketplace virality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72784" y="28163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→  Agency partner program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72784" y="32278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→  API developer ecosystem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81344" y="3749040"/>
            <a:ext cx="2560320" cy="548640"/>
          </a:xfrm>
          <a:prstGeom prst="rect">
            <a:avLst/>
          </a:prstGeom>
          <a:solidFill>
            <a:srgbClr val="F59E0B">
              <a:alpha val="9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18504" y="38587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🎯 30,000 total users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5760" y="4663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PLG Flywheel: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60020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Free User Signs Up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28600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97180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Builds First App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65760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34340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Shares App URL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02920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71500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Friends Sign Up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40080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08660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Paid Conversion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77240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458200" y="46634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Refers Colleagues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Traction &amp;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Early signals are strong. We're ready to scale.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01168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0116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34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847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1148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Beta Waitlist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143000"/>
            <a:ext cx="201168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14300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234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063240" y="12344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256032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Would Recommend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1143000"/>
            <a:ext cx="201168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143000"/>
            <a:ext cx="20116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1234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12080" y="12344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47s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470916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Avg. First Deploy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66560" y="1143000"/>
            <a:ext cx="201168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14300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234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❤️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60920" y="12344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71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85800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NPS Score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25420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Product Roadmap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20040" y="3127248"/>
            <a:ext cx="8503920" cy="3657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" y="2980944"/>
            <a:ext cx="320040" cy="320040"/>
          </a:xfrm>
          <a:prstGeom prst="oval">
            <a:avLst/>
          </a:prstGeom>
          <a:solidFill>
            <a:srgbClr val="7C3AED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364992"/>
            <a:ext cx="2011680" cy="1463040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364992"/>
            <a:ext cx="20116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429768" y="3429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Q1 2024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29768" y="36393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MVP Launch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39593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AI → React app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1788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WebContainer preview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3982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Vercel deploy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6177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Free + 1 paid tier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46120" y="2980944"/>
            <a:ext cx="320040" cy="320040"/>
          </a:xfrm>
          <a:prstGeom prst="oval">
            <a:avLst/>
          </a:prstGeom>
          <a:solidFill>
            <a:srgbClr val="161B22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68880" y="3364992"/>
            <a:ext cx="201168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468880" y="3364992"/>
            <a:ext cx="20116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9" name="Text 37"/>
          <p:cNvSpPr/>
          <p:nvPr/>
        </p:nvSpPr>
        <p:spPr>
          <a:xfrm>
            <a:off x="2578608" y="3429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</a:rPr>
              <a:t>Q2 2024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578608" y="36393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Integrations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606040" y="39593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GitHub sync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606040" y="41788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Supabase backend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606040" y="43982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20+ templates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606040" y="46177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Team invites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94960" y="2980944"/>
            <a:ext cx="320040" cy="320040"/>
          </a:xfrm>
          <a:prstGeom prst="oval">
            <a:avLst/>
          </a:prstGeom>
          <a:solidFill>
            <a:srgbClr val="161B22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17720" y="3364992"/>
            <a:ext cx="201168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17720" y="3364992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4727448" y="3429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Q3 2024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727448" y="36393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754880" y="39593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Real-time collab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54880" y="41788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Template marketplace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54880" y="43982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Image→App AI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54880" y="46177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Mobile preview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543800" y="2980944"/>
            <a:ext cx="320040" cy="320040"/>
          </a:xfrm>
          <a:prstGeom prst="oval">
            <a:avLst/>
          </a:prstGeom>
          <a:solidFill>
            <a:srgbClr val="161B22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66560" y="3364992"/>
            <a:ext cx="201168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766560" y="3364992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6876288" y="3429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Q4 2024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876288" y="36393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Enterprise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903720" y="39593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SSO / SAML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903720" y="41788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API access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903720" y="43982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White-label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903720" y="46177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• On-premise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Team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World-class team with deep expertise in AI, developer tools, and product-led growth.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54864" cy="1783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Shape 5"/>
          <p:cNvSpPr/>
          <p:nvPr/>
        </p:nvSpPr>
        <p:spPr>
          <a:xfrm>
            <a:off x="484632" y="1280160"/>
            <a:ext cx="640080" cy="640080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533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28016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Alex Rivera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55448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CEO &amp; Co-founder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" y="20299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Ex-Stripe • 2x Founder • YC Alum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" y="2377440"/>
            <a:ext cx="804672" cy="201168"/>
          </a:xfrm>
          <a:prstGeom prst="rect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40487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C3AED"/>
                </a:solidFill>
              </a:rPr>
              <a:t>GTM Strategy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335024" y="2377440"/>
            <a:ext cx="804672" cy="201168"/>
          </a:xfrm>
          <a:prstGeom prst="rect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80744" y="240487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C3AED"/>
                </a:solidFill>
              </a:rPr>
              <a:t>Fundraising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185416" y="2377440"/>
            <a:ext cx="804672" cy="201168"/>
          </a:xfrm>
          <a:prstGeom prst="rect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31136" y="240487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C3AED"/>
                </a:solidFill>
              </a:rPr>
              <a:t>0→1 Products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200400" y="10972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097280"/>
            <a:ext cx="54864" cy="1783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Shape 18"/>
          <p:cNvSpPr/>
          <p:nvPr/>
        </p:nvSpPr>
        <p:spPr>
          <a:xfrm>
            <a:off x="3364992" y="1280160"/>
            <a:ext cx="640080" cy="640080"/>
          </a:xfrm>
          <a:prstGeom prst="oval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13533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114800" y="128016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Dr. Priya Patel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155448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CTO &amp; Co-founder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64992" y="20299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Ex-Google Brain • PhD AI/ML • Ex-OpenAI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64992" y="2377440"/>
            <a:ext cx="804672" cy="201168"/>
          </a:xfrm>
          <a:prstGeom prst="rect">
            <a:avLst/>
          </a:prstGeom>
          <a:solidFill>
            <a:srgbClr val="0EA5E9">
              <a:alpha val="9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240487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EA5E9"/>
                </a:solidFill>
              </a:rPr>
              <a:t>AI Systems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215384" y="2377440"/>
            <a:ext cx="804672" cy="201168"/>
          </a:xfrm>
          <a:prstGeom prst="rect">
            <a:avLst/>
          </a:prstGeom>
          <a:solidFill>
            <a:srgbClr val="0EA5E9">
              <a:alpha val="9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61104" y="240487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EA5E9"/>
                </a:solidFill>
              </a:rPr>
              <a:t>Full-Stack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065776" y="2377440"/>
            <a:ext cx="804672" cy="201168"/>
          </a:xfrm>
          <a:prstGeom prst="rect">
            <a:avLst/>
          </a:prstGeom>
          <a:solidFill>
            <a:srgbClr val="0EA5E9">
              <a:alpha val="9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11496" y="240487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EA5E9"/>
                </a:solidFill>
              </a:rPr>
              <a:t>Architecture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080760" y="109728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1097280"/>
            <a:ext cx="54864" cy="1783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Shape 31"/>
          <p:cNvSpPr/>
          <p:nvPr/>
        </p:nvSpPr>
        <p:spPr>
          <a:xfrm>
            <a:off x="6245352" y="1280160"/>
            <a:ext cx="640080" cy="640080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45352" y="135331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JK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95160" y="128016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Jordan Kim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95160" y="155448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Head of Product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45352" y="20299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Ex-Figma • Ex-Linear • Product-Led Growth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45352" y="2377440"/>
            <a:ext cx="804672" cy="201168"/>
          </a:xfrm>
          <a:prstGeom prst="rect">
            <a:avLst/>
          </a:prstGeom>
          <a:solidFill>
            <a:srgbClr val="F59E0B">
              <a:alpha val="9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240487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</a:rPr>
              <a:t>Product Design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095744" y="2377440"/>
            <a:ext cx="804672" cy="201168"/>
          </a:xfrm>
          <a:prstGeom prst="rect">
            <a:avLst/>
          </a:prstGeom>
          <a:solidFill>
            <a:srgbClr val="F59E0B">
              <a:alpha val="9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41464" y="240487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</a:rPr>
              <a:t>PLG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946136" y="2377440"/>
            <a:ext cx="804672" cy="201168"/>
          </a:xfrm>
          <a:prstGeom prst="rect">
            <a:avLst/>
          </a:prstGeom>
          <a:solidFill>
            <a:srgbClr val="F59E0B">
              <a:alpha val="9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91856" y="240487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</a:rPr>
              <a:t>User Research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320040" y="306324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0040" y="3063240"/>
            <a:ext cx="54864" cy="1783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6" name="Shape 44"/>
          <p:cNvSpPr/>
          <p:nvPr/>
        </p:nvSpPr>
        <p:spPr>
          <a:xfrm>
            <a:off x="484632" y="3246120"/>
            <a:ext cx="640080" cy="640080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" y="331927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SC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234440" y="324612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Sam Chen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234440" y="352044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Lead AI Engineer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4632" y="39959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Ex-Anthropic • Fine-tuning • RAG Systems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4632" y="4343400"/>
            <a:ext cx="804672" cy="201168"/>
          </a:xfrm>
          <a:prstGeom prst="rect">
            <a:avLst/>
          </a:prstGeom>
          <a:solidFill>
            <a:srgbClr val="10B981">
              <a:alpha val="9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0352" y="437083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</a:rPr>
              <a:t>LLMs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335024" y="4343400"/>
            <a:ext cx="804672" cy="201168"/>
          </a:xfrm>
          <a:prstGeom prst="rect">
            <a:avLst/>
          </a:prstGeom>
          <a:solidFill>
            <a:srgbClr val="10B981">
              <a:alpha val="9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80744" y="437083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</a:rPr>
              <a:t>Prompt Eng.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2185416" y="4343400"/>
            <a:ext cx="804672" cy="201168"/>
          </a:xfrm>
          <a:prstGeom prst="rect">
            <a:avLst/>
          </a:prstGeom>
          <a:solidFill>
            <a:srgbClr val="10B981">
              <a:alpha val="9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31136" y="437083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</a:rPr>
              <a:t>ML Infra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200400" y="306324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200400" y="3063240"/>
            <a:ext cx="54864" cy="1783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9" name="Shape 57"/>
          <p:cNvSpPr/>
          <p:nvPr/>
        </p:nvSpPr>
        <p:spPr>
          <a:xfrm>
            <a:off x="3364992" y="3246120"/>
            <a:ext cx="640080" cy="640080"/>
          </a:xfrm>
          <a:prstGeom prst="oval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64992" y="331927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MT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114800" y="324612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Maya Torres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114800" y="352044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Lead Frontend Eng.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364992" y="39959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Ex-Vercel • Next.js Core Contrib. • WebDev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364992" y="4343400"/>
            <a:ext cx="804672" cy="201168"/>
          </a:xfrm>
          <a:prstGeom prst="rect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410712" y="437083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C3AED"/>
                </a:solidFill>
              </a:rPr>
              <a:t>React/Next.js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4215384" y="4343400"/>
            <a:ext cx="804672" cy="201168"/>
          </a:xfrm>
          <a:prstGeom prst="rect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61104" y="437083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C3AED"/>
                </a:solidFill>
              </a:rPr>
              <a:t>Performance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5065776" y="4343400"/>
            <a:ext cx="804672" cy="201168"/>
          </a:xfrm>
          <a:prstGeom prst="rect">
            <a:avLst/>
          </a:prstGeom>
          <a:solidFill>
            <a:srgbClr val="7C3AED">
              <a:alpha val="9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11496" y="437083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C3AED"/>
                </a:solidFill>
              </a:rPr>
              <a:t>WebContainers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6080760" y="3063240"/>
            <a:ext cx="2697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080760" y="3063240"/>
            <a:ext cx="54864" cy="1783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2" name="Shape 70"/>
          <p:cNvSpPr/>
          <p:nvPr/>
        </p:nvSpPr>
        <p:spPr>
          <a:xfrm>
            <a:off x="6245352" y="3246120"/>
            <a:ext cx="640080" cy="640080"/>
          </a:xfrm>
          <a:prstGeom prst="oval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45352" y="331927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CW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995160" y="3246120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Chris Wang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995160" y="352044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Head of Design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245352" y="39959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Ex-Notion • Ex-Linear • Design Systems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245352" y="4343400"/>
            <a:ext cx="804672" cy="201168"/>
          </a:xfrm>
          <a:prstGeom prst="rect">
            <a:avLst/>
          </a:prstGeom>
          <a:solidFill>
            <a:srgbClr val="0EA5E9">
              <a:alpha val="9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291072" y="437083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EA5E9"/>
                </a:solidFill>
              </a:rPr>
              <a:t>UI/UX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7095744" y="4343400"/>
            <a:ext cx="804672" cy="201168"/>
          </a:xfrm>
          <a:prstGeom prst="rect">
            <a:avLst/>
          </a:prstGeom>
          <a:solidFill>
            <a:srgbClr val="0EA5E9">
              <a:alpha val="9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141464" y="437083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EA5E9"/>
                </a:solidFill>
              </a:rPr>
              <a:t>Design Systems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7946136" y="4343400"/>
            <a:ext cx="804672" cy="201168"/>
          </a:xfrm>
          <a:prstGeom prst="rect">
            <a:avLst/>
          </a:prstGeom>
          <a:solidFill>
            <a:srgbClr val="0EA5E9">
              <a:alpha val="9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991856" y="437083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EA5E9"/>
                </a:solidFill>
              </a:rPr>
              <a:t>Branding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274320" y="4892040"/>
            <a:ext cx="85953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4" name="Text 82"/>
          <p:cNvSpPr/>
          <p:nvPr/>
        </p:nvSpPr>
        <p:spPr>
          <a:xfrm>
            <a:off x="457200" y="4919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Advisors: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1371600" y="49194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★ Sarah Kim · Partner, a16z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4023360" y="49194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★ Mark Chen · CEO, dev tools ($800M exit)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6675120" y="49194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★ Prof. Li Wei · Stanford AI Lab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Projections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Conservative projections based on comparable SaaS benchmarks. Upside is significant.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51560"/>
          <a:ext cx="5394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2519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ARR Growth Trajectory ($M)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852160" y="1051560"/>
            <a:ext cx="3017520" cy="347472"/>
          </a:xfrm>
          <a:prstGeom prst="rect">
            <a:avLst/>
          </a:prstGeom>
          <a:solidFill>
            <a:srgbClr val="2D1B69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11155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Metric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086600" y="11155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Year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680960" y="11155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Year 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75320" y="11155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Year 3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52160" y="1399032"/>
            <a:ext cx="301752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1508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Total Users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059168" y="15087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30K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653528" y="15087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120K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247888" y="15087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350K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52160" y="1874520"/>
            <a:ext cx="3017520" cy="475488"/>
          </a:xfrm>
          <a:prstGeom prst="rect">
            <a:avLst/>
          </a:prstGeom>
          <a:solidFill>
            <a:srgbClr val="1A2030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0" y="19842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Paying Users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059168" y="19842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5K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653528" y="19842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22K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247888" y="19842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65K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852160" y="2350008"/>
            <a:ext cx="301752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0" y="24597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ARPU/Month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059168" y="24597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$35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653528" y="24597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$42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247888" y="24597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$48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852160" y="2825496"/>
            <a:ext cx="3017520" cy="475488"/>
          </a:xfrm>
          <a:prstGeom prst="rect">
            <a:avLst/>
          </a:prstGeom>
          <a:solidFill>
            <a:srgbClr val="1A2030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943600" y="29352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ARR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059168" y="29352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$2.1M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653528" y="29352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$11.1M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247888" y="29352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$37.4M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852160" y="3300984"/>
            <a:ext cx="3017520" cy="47548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0" y="34107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Gross Margin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059168" y="34107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55%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653528" y="34107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68%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8247888" y="34107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75%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852160" y="3776472"/>
            <a:ext cx="3017520" cy="475488"/>
          </a:xfrm>
          <a:prstGeom prst="rect">
            <a:avLst/>
          </a:prstGeom>
          <a:solidFill>
            <a:srgbClr val="1A2030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43600" y="3886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Burn Rate/Mo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059168" y="38862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$225K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653528" y="38862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$380K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8247888" y="38862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$520K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Key Assumptions: 15% free→paid conversion  ·  &lt;3% monthly churn  ·  35% YoY ARPU growth  ·  72% gross margin at scale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Ask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$5M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</a:rPr>
              <a:t>Seed Round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SAFE · 20% discount · $25M cap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 of Funds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282696"/>
            <a:ext cx="1536192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2084832" y="328269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40%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96312" y="32826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Engineering (4 hires)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328269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$2.0M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30168"/>
            <a:ext cx="960120" cy="25603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36301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25%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36301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Infrastructure &amp; AI APIs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36301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A5E9"/>
                </a:solidFill>
              </a:rPr>
              <a:t>$1.25M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768096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316736" y="39776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20%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28216" y="39776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Marketing &amp; GTM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39776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$1.0M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325112"/>
            <a:ext cx="384048" cy="2560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932688" y="4325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10%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44168" y="43251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Operations &amp; Legal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0" y="432511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$500K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672584"/>
            <a:ext cx="192024" cy="2560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5" name="Text 23"/>
          <p:cNvSpPr/>
          <p:nvPr/>
        </p:nvSpPr>
        <p:spPr>
          <a:xfrm>
            <a:off x="740664" y="46725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5%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" y="46725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Reserve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0" y="467258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$250K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777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18-Month Milestones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029200" y="1261872"/>
            <a:ext cx="384048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0" y="1261872"/>
            <a:ext cx="38404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13716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623560" y="13716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30,000 users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623560" y="16642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5,000 paying subscribers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0" y="2194560"/>
            <a:ext cx="384048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029200" y="2194560"/>
            <a:ext cx="38404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2304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623560" y="23042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$2.1M ARR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623560" y="25968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On track to Series 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029200" y="3127248"/>
            <a:ext cx="384048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029200" y="3127248"/>
            <a:ext cx="38404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1" name="Text 39"/>
          <p:cNvSpPr/>
          <p:nvPr/>
        </p:nvSpPr>
        <p:spPr>
          <a:xfrm>
            <a:off x="5120640" y="323697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623560" y="32369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Feature complete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623560" y="35295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Collab, marketplace, enterprise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29200" y="4059936"/>
            <a:ext cx="3840480" cy="804672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29200" y="4059936"/>
            <a:ext cx="3840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5120640" y="416966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5623560" y="41696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Series A ready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623560" y="44622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$20M raise at $100M+ valuation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29200" y="48920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Investors → forge.ai/invest  ·  alex@forge.ai  ·  @forge_ai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1371600"/>
            <a:ext cx="4572000" cy="2743200"/>
          </a:xfrm>
          <a:prstGeom prst="oval">
            <a:avLst/>
          </a:prstGeom>
          <a:solidFill>
            <a:srgbClr val="2D1B69">
              <a:alpha val="40000"/>
            </a:srgbClr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future of software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development is conversational.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Forge AI makes it real.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286000" y="2468880"/>
            <a:ext cx="457200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0" y="2468880"/>
            <a:ext cx="457200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25786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Let's Build Together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68880" y="30632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🌐  forge.ai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0" y="30632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📧  alex@forge.ai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30632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🐦  @forge_ai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60720" y="30632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💼  linkedin/forge-ai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forge.ai/deck  ·  Confidential — For Discussion Purposes Only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 AI — Investor Pitch Deck</dc:title>
  <dc:subject>PptxGenJS Presentation</dc:subject>
  <dc:creator>Forge AI</dc:creator>
  <cp:lastModifiedBy>Forge AI</cp:lastModifiedBy>
  <cp:revision>1</cp:revision>
  <dcterms:created xsi:type="dcterms:W3CDTF">2026-03-11T10:24:57Z</dcterms:created>
  <dcterms:modified xsi:type="dcterms:W3CDTF">2026-03-11T10:24:57Z</dcterms:modified>
</cp:coreProperties>
</file>